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honest sentence: Nous is a small, dependency-free Python prototype of a graph memory and spreading-activation substrate, and equally a case study in how adversarial, property-based testing caught a sequence of real structural bugs. The talk is methodology-first. Everything cognitive on top of the substrate is exploratory and is labeled as such. Nothing here claims a mind, consciousness, AGI, or a validated cognitive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non-claims bind everything that follows. The proven part is mechanism: the substrate does exactly and only what it says, reproducibly. The exploratory part runs and is deterministic, but whether its output is cognitively meaningful is an open question, not a result. The neuroscience vocabulary (complementary learning systems, synaptic tagging, global workspace, LIDA) is framing inspiration; no biological result is implemented, reproduced, or validated.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Bottom up: (1) Substrate store, a graph of concept nodes and weighted roads with consolidation-inspired dynamics, lazy decay, and sticky closure. (2) Spreading activation, a deterministic engine recording per-edge flow, treating closed roads as leaky rather than inert. Layers 1 and 2 are PROVEN for determinism, integrity, and purity. (3) Multi-source field, assigning each node to its dominant source. (4) The perceive-then-think slice. Layers 3 and 4 are EXPLORATORY: they run and are deterministic, but their cognitive meaningfulness is not claimed.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Input text is matched to nodes (exact/substring tokens, no embeddings), producing activation sources. The field runs the proven single-source spread once per source and assembles basins. Coalitions group co-activated nodes. The final step picks the single strongest coalition and calls it the 'thought'. That selection is an explicit PLACEHOLDER for a workspace-competition (broadcast) phase that does not yet exist. The pipeline is deterministic end-to-end; that is a mechanism property, not evidence of meaning.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Happy-path tests confirm what you already believe. Adversarial tests are written to falsify the claim: re-run the same construction in fresh interpreters under different PYTHONHASHSEED values and demand byte-identical output; assert that reads never mutate state; scan the whole graph for index/adjacency drift after every mutation. Loop-closure means stop hand-feeding friendly inputs and let an earlier stage generate them. A structural bug is one in the logic of the design: it survives friendly inputs and only shows up under these pressures.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(a) Read-as-write: a lazy decay path that mutated on read. (b) Convergence double-counting: Dijkstra's 'first pop is final' imported into an engine that SUMS flow. (c) Order-dependence and nondeterminism: a priority frontier over hash-randomized sets. (d) Identity/order leak: uuid4 tie-breaks regenerated per process. (e) Binding degeneracy: connected-components always yields exactly one coalition. (f) Circular validation: sources hand-placed one per community, so the test could not fail. The common thread is the 'friendly input' failure mode.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Shortest-path intuition says the first time you pop a node you are done. But spreading activation adds contributions from every incoming path, so reusing that intuition counts converging flow more than once. The fix is a bounded, hop-layered single-expansion with per-layer frozen values, which is both correct and deterministic. This is a mechanism correction, asserted by a no-double-count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Natural implementations leak set-iteration order over uuid4 keys into results, so output varies across process runs. Four determinism tests re-run the same construction in fresh interpreters under several PYTHONHASHSEED values and assert byte-identical output (activation {0,1,3,7,42}; coalitions and field {0,1,2,3,7,42,123,999}; slice {0,1,2,7,42,999}). The 'before' row is the documented prior behavior shown qualitatively, not re-measured. This establishes reproducibility of MECHANISM only. It says nothing about cognition.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single seed over connectivity (or flow-cut) is degenerate: it tends to return one undifferentiated group, anti-correlated with real community structure. Running activation from several sources and assigning each node to its dominant source recovers structure and is deterministic. Spoken caveat: in this figure the sources are still hand-placed, one per community. That is exactly finding (f), the circular-validation trap, and it is what motivated closing the loop with real perception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real perception lights up several nodes in the SAME domain, the field's basins collapse: one source over-swallows across domains while same-domain siblings strand as singletons, so the selected 'thought' is incoherent. This is not hidden. It is asserted as test_KNOWN_LIMITATION_clustered_sources_give_poor_basins, which is currently red-by-design and flips to green only if the underlying problem is solved. A negative result, documented as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Per suite: substrate store 45, spreading activation 35, coalition formation 19, multi-source field 13, perception + slice 18. Total 130 passed, 0 failed, across 56 test functions, including the adversarial cross-process determinism checks and the one asserted known-limitation. 'Passing' means the mechanism is correct and deterministic, not that the cognitive layer is meaningful. Green marks the proven substrate; the rest is exploratory mechanics that merely runs reproducibly.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honest next step is to stop validating the cognitive layer against hand-built inputs and instead test it against a measurable cognitive effect whose direction is known independently of Nous, for example semantic priming [10, 11]: does pre-activating a related concept measurably raise a target's activation? Then fix the source-grouping that collapses same-domain basins, and build the broadcast phase that the 'thought' selection currently stands in for. The ethos is the whole point: claim only what a test proves, and keep the failing test visible.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331720"/>
            <a:ext cx="12191695" cy="21945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468880"/>
            <a:ext cx="1072865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5400" b="1" i="0">
                <a:solidFill>
                  <a:srgbClr val="FFFFFF"/>
                </a:solidFill>
                <a:latin typeface="Calibri"/>
              </a:rPr>
              <a:t>Nous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29000"/>
            <a:ext cx="10728655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i="0">
                <a:solidFill>
                  <a:srgbClr val="FFFFFF"/>
                </a:solidFill>
                <a:latin typeface="Calibri"/>
              </a:rPr>
              <a:t>A dependency-free memory-and-activation substrate, and a software-testing-methodology case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754880"/>
            <a:ext cx="1072865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1" i="0">
                <a:solidFill>
                  <a:srgbClr val="1A1A1A"/>
                </a:solidFill>
                <a:latin typeface="Calibri"/>
              </a:rPr>
              <a:t>Cagan Caliskan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03520"/>
            <a:ext cx="1072865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0" i="1">
                <a:solidFill>
                  <a:srgbClr val="555555"/>
                </a:solidFill>
                <a:latin typeface="Calibri"/>
              </a:rPr>
              <a:t>An engineering prototype. Not a mind, a consciousness, an AGI, or a validated cognitive model.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000" b="1" i="0">
                <a:solidFill>
                  <a:srgbClr val="1A1A1A"/>
                </a:solidFill>
                <a:latin typeface="Calibri"/>
              </a:rPr>
              <a:t>What this is, and what it is not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70432"/>
            <a:ext cx="11057839" cy="279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00200"/>
            <a:ext cx="10911535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900" b="1" i="0">
                <a:solidFill>
                  <a:srgbClr val="1F4E79"/>
                </a:solidFill>
                <a:latin typeface="Calibri"/>
              </a:rPr>
              <a:t>•  </a:t>
            </a:r>
            <a:r>
              <a:rPr sz="1900" b="1" i="0">
                <a:solidFill>
                  <a:srgbClr val="2E7D32"/>
                </a:solidFill>
                <a:latin typeface="Calibri"/>
              </a:rPr>
              <a:t>IS: a small Python prototype of a graph memory and spreading-activation substrate, built test-first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900" b="1" i="0">
                <a:solidFill>
                  <a:srgbClr val="1F4E79"/>
                </a:solidFill>
                <a:latin typeface="Calibri"/>
              </a:rPr>
              <a:t>•  </a:t>
            </a:r>
            <a:r>
              <a:rPr sz="1900" b="1" i="0">
                <a:solidFill>
                  <a:srgbClr val="2E7D32"/>
                </a:solidFill>
                <a:latin typeface="Calibri"/>
              </a:rPr>
              <a:t>IS: a case study in adversarial, property-based testing and loop-closure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900" b="1" i="0">
                <a:solidFill>
                  <a:srgbClr val="1F4E79"/>
                </a:solidFill>
                <a:latin typeface="Calibri"/>
              </a:rPr>
              <a:t>•  </a:t>
            </a:r>
            <a:r>
              <a:rPr sz="1900" b="1" i="0">
                <a:solidFill>
                  <a:srgbClr val="C0392B"/>
                </a:solidFill>
                <a:latin typeface="Calibri"/>
              </a:rPr>
              <a:t>IS NOT: a mind, a consciousness, or an AGI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900" b="1" i="0">
                <a:solidFill>
                  <a:srgbClr val="1F4E79"/>
                </a:solidFill>
                <a:latin typeface="Calibri"/>
              </a:rPr>
              <a:t>•  </a:t>
            </a:r>
            <a:r>
              <a:rPr sz="1900" b="1" i="0">
                <a:solidFill>
                  <a:srgbClr val="C0392B"/>
                </a:solidFill>
                <a:latin typeface="Calibri"/>
              </a:rPr>
              <a:t>IS NOT: a validated cognitive model; cognitive meaningfulness above the substrate is not claimed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900" b="1" i="0">
                <a:solidFill>
                  <a:srgbClr val="1F4E79"/>
                </a:solidFill>
                <a:latin typeface="Calibri"/>
              </a:rPr>
              <a:t>•  </a:t>
            </a:r>
            <a:r>
              <a:rPr sz="1900" b="0" i="0">
                <a:solidFill>
                  <a:srgbClr val="555555"/>
                </a:solidFill>
                <a:latin typeface="Calibri"/>
              </a:rPr>
              <a:t>Neuroscience here is conceptual inspiration only, never implemented or reproduced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 i="0">
                <a:solidFill>
                  <a:srgbClr val="555555"/>
                </a:solidFill>
                <a:latin typeface="Calibri"/>
              </a:rPr>
              <a:t>Binding non-claims for the rest of the talk.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000" b="1" i="0">
                <a:solidFill>
                  <a:srgbClr val="1A1A1A"/>
                </a:solidFill>
                <a:latin typeface="Calibri"/>
              </a:rPr>
              <a:t>Four layers: two proven, two exploratory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70432"/>
            <a:ext cx="11057839" cy="279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325880"/>
            <a:ext cx="1105783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 i="1">
                <a:solidFill>
                  <a:srgbClr val="1F4E79"/>
                </a:solidFill>
                <a:latin typeface="Calibri"/>
              </a:rPr>
              <a:t>Two rigorously tested substrate layers, with two exploratory cognitive layers built on top.</a:t>
            </a:r>
          </a:p>
        </p:txBody>
      </p:sp>
      <p:pic>
        <p:nvPicPr>
          <p:cNvPr id="5" name="Picture 4" descr="architecture_st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5943" y="2148840"/>
            <a:ext cx="1019807" cy="4160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46520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 i="0">
                <a:solidFill>
                  <a:srgbClr val="555555"/>
                </a:solidFill>
                <a:latin typeface="Calibri"/>
              </a:rPr>
              <a:t>Figure: architecture_stack.png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000" b="1" i="0">
                <a:solidFill>
                  <a:srgbClr val="1A1A1A"/>
                </a:solidFill>
                <a:latin typeface="Calibri"/>
              </a:rPr>
              <a:t>The end-to-end slice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70432"/>
            <a:ext cx="11057839" cy="279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325880"/>
            <a:ext cx="1105783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 i="1">
                <a:solidFill>
                  <a:srgbClr val="1F4E79"/>
                </a:solidFill>
                <a:latin typeface="Calibri"/>
              </a:rPr>
              <a:t>perceive  -&gt;  activate  -&gt;  field  -&gt;  coalitions  -&gt;  one selected 'thought' (last step is a placeholder).</a:t>
            </a:r>
          </a:p>
        </p:txBody>
      </p:sp>
      <p:pic>
        <p:nvPicPr>
          <p:cNvPr id="5" name="Picture 4" descr="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0345" y="2148840"/>
            <a:ext cx="2511004" cy="4160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46520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 i="0">
                <a:solidFill>
                  <a:srgbClr val="555555"/>
                </a:solidFill>
                <a:latin typeface="Calibri"/>
              </a:rPr>
              <a:t>Figure: pipeline.png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000" b="1" i="0">
                <a:solidFill>
                  <a:srgbClr val="1A1A1A"/>
                </a:solidFill>
                <a:latin typeface="Calibri"/>
              </a:rPr>
              <a:t>The thesis: adversarial and property-based testing, plus loop-closure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70432"/>
            <a:ext cx="11057839" cy="279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00200"/>
            <a:ext cx="10911535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5000"/>
              </a:lnSpc>
              <a:spcAft>
                <a:spcPts val="1600"/>
              </a:spcAft>
            </a:pPr>
            <a:r>
              <a:rPr sz="1900" b="1" i="0">
                <a:solidFill>
                  <a:srgbClr val="1F4E79"/>
                </a:solidFill>
                <a:latin typeface="Calibri"/>
              </a:rPr>
              <a:t>•  </a:t>
            </a:r>
            <a:r>
              <a:rPr sz="1900" b="0" i="0">
                <a:solidFill>
                  <a:srgbClr val="1A1A1A"/>
                </a:solidFill>
                <a:latin typeface="Calibri"/>
              </a:rPr>
              <a:t>Build each layer test-first; write adversarial tests designed to break the claim, not confirm it</a:t>
            </a:r>
          </a:p>
          <a:p>
            <a:pPr>
              <a:lnSpc>
                <a:spcPct val="105000"/>
              </a:lnSpc>
              <a:spcAft>
                <a:spcPts val="1600"/>
              </a:spcAft>
            </a:pPr>
            <a:r>
              <a:rPr sz="1900" b="1" i="0">
                <a:solidFill>
                  <a:srgbClr val="1F4E79"/>
                </a:solidFill>
                <a:latin typeface="Calibri"/>
              </a:rPr>
              <a:t>•  </a:t>
            </a:r>
            <a:r>
              <a:rPr sz="1900" b="0" i="0">
                <a:solidFill>
                  <a:srgbClr val="1A1A1A"/>
                </a:solidFill>
                <a:latin typeface="Calibri"/>
              </a:rPr>
              <a:t>Property-based checks: determinism across process hash seeds, read-purity, full-graph integrity</a:t>
            </a:r>
          </a:p>
          <a:p>
            <a:pPr>
              <a:lnSpc>
                <a:spcPct val="105000"/>
              </a:lnSpc>
              <a:spcAft>
                <a:spcPts val="1600"/>
              </a:spcAft>
            </a:pPr>
            <a:r>
              <a:rPr sz="1900" b="1" i="0">
                <a:solidFill>
                  <a:srgbClr val="1F4E79"/>
                </a:solidFill>
                <a:latin typeface="Calibri"/>
              </a:rPr>
              <a:t>•  </a:t>
            </a:r>
            <a:r>
              <a:rPr sz="1900" b="0" i="0">
                <a:solidFill>
                  <a:srgbClr val="1A1A1A"/>
                </a:solidFill>
                <a:latin typeface="Calibri"/>
              </a:rPr>
              <a:t>Close the loop: feed each layer system-generated inputs instead of hand-chosen ones</a:t>
            </a:r>
          </a:p>
          <a:p>
            <a:pPr>
              <a:lnSpc>
                <a:spcPct val="105000"/>
              </a:lnSpc>
              <a:spcAft>
                <a:spcPts val="1600"/>
              </a:spcAft>
            </a:pPr>
            <a:r>
              <a:rPr sz="1900" b="1" i="0">
                <a:solidFill>
                  <a:srgbClr val="1F4E79"/>
                </a:solidFill>
                <a:latin typeface="Calibri"/>
              </a:rPr>
              <a:t>•  </a:t>
            </a:r>
            <a:r>
              <a:rPr sz="1900" b="1" i="0">
                <a:solidFill>
                  <a:srgbClr val="C0392B"/>
                </a:solidFill>
                <a:latin typeface="Calibri"/>
              </a:rPr>
              <a:t>A 'structural bug' lives in the design's logic, not in a typo: it passes the happy path and fails adversarially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 i="0">
                <a:solidFill>
                  <a:srgbClr val="555555"/>
                </a:solidFill>
                <a:latin typeface="Calibri"/>
              </a:rPr>
              <a:t>What 'structural bug' means.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000" b="1" i="0">
                <a:solidFill>
                  <a:srgbClr val="1A1A1A"/>
                </a:solidFill>
                <a:latin typeface="Calibri"/>
              </a:rPr>
              <a:t>Six structural findings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70432"/>
            <a:ext cx="11057839" cy="279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325880"/>
            <a:ext cx="1105783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 i="1">
                <a:solidFill>
                  <a:srgbClr val="1F4E79"/>
                </a:solidFill>
                <a:latin typeface="Calibri"/>
              </a:rPr>
              <a:t>One failure mode recurred: 'passes on a friendly input.' Each bug was caught adversarially or by loop-closure.</a:t>
            </a:r>
          </a:p>
        </p:txBody>
      </p:sp>
      <p:pic>
        <p:nvPicPr>
          <p:cNvPr id="5" name="Picture 4" descr="six_findin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5610" y="2148840"/>
            <a:ext cx="4720474" cy="4160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46520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 i="0">
                <a:solidFill>
                  <a:srgbClr val="555555"/>
                </a:solidFill>
                <a:latin typeface="Calibri"/>
              </a:rPr>
              <a:t>Figure: six_findings.png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000" b="1" i="0">
                <a:solidFill>
                  <a:srgbClr val="1A1A1A"/>
                </a:solidFill>
                <a:latin typeface="Calibri"/>
              </a:rPr>
              <a:t>Deep example: convergence double-counting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70432"/>
            <a:ext cx="11057839" cy="279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325880"/>
            <a:ext cx="1105783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 i="1">
                <a:solidFill>
                  <a:srgbClr val="1F4E79"/>
                </a:solidFill>
                <a:latin typeface="Calibri"/>
              </a:rPr>
              <a:t>Dijkstra's 'first pop is final' is wrong for an engine that SUMS flow at convergence points.</a:t>
            </a:r>
          </a:p>
        </p:txBody>
      </p:sp>
      <p:pic>
        <p:nvPicPr>
          <p:cNvPr id="5" name="Picture 4" descr="convergence_before_af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2479" y="2148840"/>
            <a:ext cx="4306736" cy="4160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46520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 i="0">
                <a:solidFill>
                  <a:srgbClr val="555555"/>
                </a:solidFill>
                <a:latin typeface="Calibri"/>
              </a:rPr>
              <a:t>Figure: convergence_before_after.png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000" b="1" i="0">
                <a:solidFill>
                  <a:srgbClr val="1A1A1A"/>
                </a:solidFill>
                <a:latin typeface="Calibri"/>
              </a:rPr>
              <a:t>Deep example: determinism across process hash seeds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70432"/>
            <a:ext cx="11057839" cy="279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325880"/>
            <a:ext cx="1105783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 i="1">
                <a:solidFill>
                  <a:srgbClr val="2E7D32"/>
                </a:solidFill>
                <a:latin typeface="Calibri"/>
              </a:rPr>
              <a:t>Same construction, fresh interpreters, several hash seeds: byte-identical output. Mechanism, not cognition.</a:t>
            </a:r>
          </a:p>
        </p:txBody>
      </p:sp>
      <p:pic>
        <p:nvPicPr>
          <p:cNvPr id="5" name="Picture 4" descr="determinism_see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5226" y="2148840"/>
            <a:ext cx="9581242" cy="4160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46520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 i="0">
                <a:solidFill>
                  <a:srgbClr val="555555"/>
                </a:solidFill>
                <a:latin typeface="Calibri"/>
              </a:rPr>
              <a:t>Figure: determinism_seeds.png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000" b="1" i="0">
                <a:solidFill>
                  <a:srgbClr val="1A1A1A"/>
                </a:solidFill>
                <a:latin typeface="Calibri"/>
              </a:rPr>
              <a:t>The reframe: single-seed degeneracy to multi-source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70432"/>
            <a:ext cx="11057839" cy="279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325880"/>
            <a:ext cx="1105783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 i="1">
                <a:solidFill>
                  <a:srgbClr val="1F4E79"/>
                </a:solidFill>
                <a:latin typeface="Calibri"/>
              </a:rPr>
              <a:t>One seed always collapses to one blob; multiple sources give structure. Caveat: here the sources were hand-placed (finding f).</a:t>
            </a:r>
          </a:p>
        </p:txBody>
      </p:sp>
      <p:pic>
        <p:nvPicPr>
          <p:cNvPr id="5" name="Picture 4" descr="single_seed_vs_multisour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0112" y="2148840"/>
            <a:ext cx="3291470" cy="4160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46520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 i="0">
                <a:solidFill>
                  <a:srgbClr val="555555"/>
                </a:solidFill>
                <a:latin typeface="Calibri"/>
              </a:rPr>
              <a:t>Figure: single_seed_vs_multisource.png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000" b="1" i="0">
                <a:solidFill>
                  <a:srgbClr val="C0392B"/>
                </a:solidFill>
                <a:latin typeface="Calibri"/>
              </a:rPr>
              <a:t>The honest negative result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70432"/>
            <a:ext cx="11057839" cy="279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325880"/>
            <a:ext cx="1105783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 i="1">
                <a:solidFill>
                  <a:srgbClr val="C0392B"/>
                </a:solidFill>
                <a:latin typeface="Calibri"/>
              </a:rPr>
              <a:t>Close the loop with real same-domain perception and the 'thought' is incoherent. Asserted as a known-limitation test.</a:t>
            </a:r>
          </a:p>
        </p:txBody>
      </p:sp>
      <p:pic>
        <p:nvPicPr>
          <p:cNvPr id="5" name="Picture 4" descr="closed_loop_known_limit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3311" y="2148840"/>
            <a:ext cx="1925071" cy="4160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46520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 i="0">
                <a:solidFill>
                  <a:srgbClr val="555555"/>
                </a:solidFill>
                <a:latin typeface="Calibri"/>
              </a:rPr>
              <a:t>Figure: closed_loop_known_limitation.png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000" b="1" i="0">
                <a:solidFill>
                  <a:srgbClr val="1A1A1A"/>
                </a:solidFill>
                <a:latin typeface="Calibri"/>
              </a:rPr>
              <a:t>Proven vs. not: the test suite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70432"/>
            <a:ext cx="11057839" cy="279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325880"/>
            <a:ext cx="1105783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 i="1">
                <a:solidFill>
                  <a:srgbClr val="2E7D32"/>
                </a:solidFill>
                <a:latin typeface="Calibri"/>
              </a:rPr>
              <a:t>130 assertions across 56 functions, all passing (45, 35, 19, 13, 18). Green = proven mechanism.</a:t>
            </a:r>
          </a:p>
        </p:txBody>
      </p:sp>
      <p:pic>
        <p:nvPicPr>
          <p:cNvPr id="5" name="Picture 4" descr="test_suite_ba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4760" y="2148840"/>
            <a:ext cx="7042174" cy="4160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46520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 i="0">
                <a:solidFill>
                  <a:srgbClr val="555555"/>
                </a:solidFill>
                <a:latin typeface="Calibri"/>
              </a:rPr>
              <a:t>Figure: test_suite_bars.png  -  numbers verbatim from docs/TEST_OUTPUT.txt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000" b="1" i="0">
                <a:solidFill>
                  <a:srgbClr val="1A1A1A"/>
                </a:solidFill>
                <a:latin typeface="Calibri"/>
              </a:rPr>
              <a:t>Future work, and the ethos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70432"/>
            <a:ext cx="11057839" cy="279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00200"/>
            <a:ext cx="10911535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900" b="1" i="0">
                <a:solidFill>
                  <a:srgbClr val="1F4E79"/>
                </a:solidFill>
                <a:latin typeface="Calibri"/>
              </a:rPr>
              <a:t>•  </a:t>
            </a:r>
            <a:r>
              <a:rPr sz="1900" b="0" i="0">
                <a:solidFill>
                  <a:srgbClr val="1A1A1A"/>
                </a:solidFill>
                <a:latin typeface="Calibri"/>
              </a:rPr>
              <a:t>Validate against a measurable effect with a known direction: semantic priming [10, 11]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900" b="1" i="0">
                <a:solidFill>
                  <a:srgbClr val="1F4E79"/>
                </a:solidFill>
                <a:latin typeface="Calibri"/>
              </a:rPr>
              <a:t>•  </a:t>
            </a:r>
            <a:r>
              <a:rPr sz="1900" b="0" i="0">
                <a:solidFill>
                  <a:srgbClr val="1A1A1A"/>
                </a:solidFill>
                <a:latin typeface="Calibri"/>
              </a:rPr>
              <a:t>Fix source-grouping so same-domain perception does not collapse basins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900" b="1" i="0">
                <a:solidFill>
                  <a:srgbClr val="1F4E79"/>
                </a:solidFill>
                <a:latin typeface="Calibri"/>
              </a:rPr>
              <a:t>•  </a:t>
            </a:r>
            <a:r>
              <a:rPr sz="1900" b="0" i="0">
                <a:solidFill>
                  <a:srgbClr val="1A1A1A"/>
                </a:solidFill>
                <a:latin typeface="Calibri"/>
              </a:rPr>
              <a:t>Build the broadcast/competition phase that 'strongest coalition = thought' currently stands in for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206240"/>
            <a:ext cx="10911535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i="1">
                <a:solidFill>
                  <a:srgbClr val="1F4E79"/>
                </a:solidFill>
                <a:latin typeface="Calibri"/>
              </a:rPr>
              <a:t>“This part is proven; that part is not, and here is the failing test that says so.”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 i="0">
                <a:solidFill>
                  <a:srgbClr val="555555"/>
                </a:solidFill>
                <a:latin typeface="Calibri"/>
              </a:rPr>
              <a:t>Conclusion.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